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3" name="Image 0" descr="https://media.base44.com/images/public/6a95d675a12ae82453682890/0ae5015c5_generated_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93208" y="640080"/>
            <a:ext cx="2011680" cy="2011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8803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4F46E5"/>
                </a:solidFill>
              </a:rPr>
              <a:t>SALES ENABLEMENT DECK · US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914400" y="333756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F172A"/>
                </a:solidFill>
              </a:rPr>
              <a:t>Vakil Case</a:t>
            </a:r>
            <a:endParaRPr lang="en-US" sz="5000" dirty="0"/>
          </a:p>
        </p:txBody>
      </p:sp>
      <p:sp>
        <p:nvSpPr>
          <p:cNvPr id="6" name="Text 3"/>
          <p:cNvSpPr/>
          <p:nvPr/>
        </p:nvSpPr>
        <p:spPr>
          <a:xfrm>
            <a:off x="1371600" y="4434840"/>
            <a:ext cx="9418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4748B"/>
                </a:solidFill>
              </a:rPr>
              <a:t>The all-in-one practice management platform for modern American law firms — cases, clients, billing, documents, and trust accounting in one secure workspace.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14400" y="55321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46E5"/>
                </a:solidFill>
              </a:rPr>
              <a:t>15+ Modules   ·   100% USD Billing   ·   Secure Access Control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6455664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© 2026 Vakil Case   ·   Demo.US.Vakilcase.com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Law firms run on friction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Disjointed tools and manual workflows drain billable hours and create risk.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48640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423160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1488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Scattered documents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5146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Case files spread across email, drives, and paper — hard to find and easy to lose.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057400"/>
            <a:ext cx="548640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55080" y="2423160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21488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Manual billing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75120" y="25146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Invoices tracked in spreadsheets lead to missed revenue and delayed payments.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548640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611880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3375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Missed hearings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37033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No central calendar means continuances and deadlines slip through the cracks.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3246120"/>
            <a:ext cx="548640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55080" y="3611880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33375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No visibility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75120" y="37033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Partners can't see case status, workload, or firm performance in real time.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434840"/>
            <a:ext cx="548640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4800600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45262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Data security risk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05840" y="48920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Client confidentiality exposed when access isn't controlled per person.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7920" y="4434840"/>
            <a:ext cx="548640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55080" y="4800600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6675120" y="45262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Onboarding overhead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675120" y="48920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Intake, conflict checks, and engagement letters handled by hand, case by case.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6455664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© 2026 Vakil Case   ·   Demo.US.Vakilcase.com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One platform for the entire firm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Vakil Case replaces a dozen disconnected tools with a single, secure system of record.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356616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240280"/>
            <a:ext cx="457200" cy="457200"/>
          </a:xfrm>
          <a:prstGeom prst="roundRect">
            <a:avLst/>
          </a:prstGeom>
          <a:solidFill>
            <a:srgbClr val="4F46E5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2240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Case Management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83464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Track every matter from intake to judgment with status, priority, risk, and hearing dates.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2057400"/>
            <a:ext cx="356616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2240280"/>
            <a:ext cx="457200" cy="457200"/>
          </a:xfrm>
          <a:prstGeom prst="roundRect">
            <a:avLst/>
          </a:prstGeom>
          <a:solidFill>
            <a:srgbClr val="4F46E5"/>
          </a:solidFill>
          <a:ln/>
        </p:spPr>
      </p:sp>
      <p:sp>
        <p:nvSpPr>
          <p:cNvPr id="12" name="Text 10"/>
          <p:cNvSpPr/>
          <p:nvPr/>
        </p:nvSpPr>
        <p:spPr>
          <a:xfrm>
            <a:off x="5074920" y="2240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Client Management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80560" y="283464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 complete CRM for prospects, onboarded, and active clients with conflict checks.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2057400"/>
            <a:ext cx="356616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2240280"/>
            <a:ext cx="457200" cy="457200"/>
          </a:xfrm>
          <a:prstGeom prst="roundRect">
            <a:avLst/>
          </a:prstGeom>
          <a:solidFill>
            <a:srgbClr val="4F46E5"/>
          </a:solidFill>
          <a:ln/>
        </p:spPr>
      </p:sp>
      <p:sp>
        <p:nvSpPr>
          <p:cNvPr id="16" name="Text 14"/>
          <p:cNvSpPr/>
          <p:nvPr/>
        </p:nvSpPr>
        <p:spPr>
          <a:xfrm>
            <a:off x="8823960" y="2240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Lawyer Management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0" y="283464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Profiles, specializations, bar credentials, ratings, and verification in one place.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886200"/>
            <a:ext cx="356616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4069080"/>
            <a:ext cx="457200" cy="457200"/>
          </a:xfrm>
          <a:prstGeom prst="roundRect">
            <a:avLst/>
          </a:prstGeom>
          <a:solidFill>
            <a:srgbClr val="4F46E5"/>
          </a:solidFill>
          <a:ln/>
        </p:spPr>
      </p:sp>
      <p:sp>
        <p:nvSpPr>
          <p:cNvPr id="20" name="Text 18"/>
          <p:cNvSpPr/>
          <p:nvPr/>
        </p:nvSpPr>
        <p:spPr>
          <a:xfrm>
            <a:off x="1325880" y="40690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Billing &amp; Invoices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466344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Generate, send, and track invoices — fully in USD with partial-payment tracking.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297680" y="3886200"/>
            <a:ext cx="356616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80560" y="4069080"/>
            <a:ext cx="457200" cy="457200"/>
          </a:xfrm>
          <a:prstGeom prst="roundRect">
            <a:avLst/>
          </a:prstGeom>
          <a:solidFill>
            <a:srgbClr val="4F46E5"/>
          </a:solidFill>
          <a:ln/>
        </p:spPr>
      </p:sp>
      <p:sp>
        <p:nvSpPr>
          <p:cNvPr id="24" name="Text 22"/>
          <p:cNvSpPr/>
          <p:nvPr/>
        </p:nvSpPr>
        <p:spPr>
          <a:xfrm>
            <a:off x="5074920" y="40690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Documents &amp; E-Sign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480560" y="466344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Store, organize, and request legally-binding e-signatures on any document.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046720" y="3886200"/>
            <a:ext cx="356616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0" y="4069080"/>
            <a:ext cx="457200" cy="457200"/>
          </a:xfrm>
          <a:prstGeom prst="roundRect">
            <a:avLst/>
          </a:prstGeom>
          <a:solidFill>
            <a:srgbClr val="4F46E5"/>
          </a:solidFill>
          <a:ln/>
        </p:spPr>
      </p:sp>
      <p:sp>
        <p:nvSpPr>
          <p:cNvPr id="28" name="Text 26"/>
          <p:cNvSpPr/>
          <p:nvPr/>
        </p:nvSpPr>
        <p:spPr>
          <a:xfrm>
            <a:off x="8823960" y="40690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Trust Accounting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29600" y="466344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Separate trust and operating accounts (IOLTA-ready) with full transaction ledgers.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6455664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© 2026 Vakil Case   ·   Demo.US.Vakilcase.com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</a:rPr>
              <a:t>SCREEN 1 · DASHBOARD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A command center for the whole firm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At-a-glance KPIs, recent activity, and upcoming hearings keep partners in control.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148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Total Cases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4231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46E5"/>
                </a:solidFill>
              </a:rPr>
              <a:t>48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383280" y="205740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2148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Active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20440" y="24231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46E5"/>
                </a:solidFill>
              </a:rPr>
              <a:t>22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217920" y="205740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148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Upcoming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55080" y="24231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46E5"/>
                </a:solidFill>
              </a:rPr>
              <a:t>6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052560" y="205740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89720" y="2148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Pending $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89720" y="24231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46E5"/>
                </a:solidFill>
              </a:rPr>
              <a:t>$42,000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37560"/>
          <a:ext cx="1106424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2926080"/>
                <a:gridCol w="219456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</a:rPr>
                        <a:t>Case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</a:rPr>
                        <a:t>Client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</a:rPr>
                        <a:t>Status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</a:rPr>
                        <a:t>Next hearing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Carter v. Pierce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Emily Carter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Trial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Sep 12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Estate of Williams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Sophia Bennett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Discovery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Sep 18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Meridian Corp. Merger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Meridian Industries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Filed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640080" y="498348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Real-time KPIs — cases, active matters, hearings, and outstanding billing, all live.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Upcoming hearings surfaced so no court date is ever missed.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Recent activity shows exactly what changed across the firm today.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48640" y="6455664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© 2026 Vakil Case   ·   Demo.US.Vakilcase.com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</a:rPr>
              <a:t>SCREEN 2 · CLIENTS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Manage your client roster with confidence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From first prospect to active engagement — every client, fully profiled.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743200"/>
                <a:gridCol w="1645920"/>
                <a:gridCol w="1828800"/>
                <a:gridCol w="22860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</a:rPr>
                        <a:t>Name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</a:rPr>
                        <a:t>Email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</a:rPr>
                        <a:t>Phone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</a:rPr>
                        <a:t>Status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</a:rPr>
                        <a:t>Lawyer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Emily Carter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emily.carter@email.com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+1 415...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Active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E. Davis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Sophia Bennett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sophia.b@email.com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+1 212...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Onboarded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S. Martinez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Meridian Industries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legal@meridian.co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+1 312...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Prospect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E. Davis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425196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Full client profiles — contact, ID, occupation, notes, and assigned lawyer.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Lifecycle statuses — prospect → onboarded → active → archived.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Conflict checks flag risks before engagement to protect the firm.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6455664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© 2026 Vakil Case   ·   Demo.US.Vakilcase.com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</a:rPr>
              <a:t>SCREEN 3 · CASES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Every matter, from intake to judgment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16 case categories, 16 lifecycle stages, and full risk + priority tracking.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377440"/>
                <a:gridCol w="1645920"/>
                <a:gridCol w="1645920"/>
                <a:gridCol w="246888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</a:rPr>
                        <a:t>Title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</a:rPr>
                        <a:t>Category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</a:rPr>
                        <a:t>Status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</a:rPr>
                        <a:t>Priority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</a:rPr>
                        <a:t>Client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Carter v. Pierce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Civil Litigation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Trial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Urgent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Emily Carter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Estate of Williams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Estate Planning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Discovery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High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Sophia Bennett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Meridian Corp. Merger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Corporate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Filed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Medium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Meridian Industries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425196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16 practice areas — criminal, family, corporate, IP, tax, and more.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Full lifecycle — intake → conflict → engagement → filed → trial → closed.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Risk &amp; priority surface the matters that need attention first.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6455664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© 2026 Vakil Case   ·   Demo.US.Vakilcase.com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</a:rPr>
              <a:t>SCREEN 4 · LAWYER MANAGEMENT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Your team, fully credentialled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Profiles, state bar credentials, specializations, ratings, and verification status.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743200"/>
                <a:gridCol w="1828800"/>
                <a:gridCol w="118872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</a:rPr>
                        <a:t>Name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</a:rPr>
                        <a:t>Specialization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</a:rPr>
                        <a:t>Bar #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</a:rPr>
                        <a:t>Years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</a:rPr>
                        <a:t>Status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Attorney Emily Davis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Criminal Law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CA #246813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Verified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Attorney Sophia Martinez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Family Law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NY #135790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Under Review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Attorney Marcus Lee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Corporate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DE #987654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15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Verified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425196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State bar credentials — bar number and state bar association on every profile.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Verification workflow — pending → under review → verified → suspended.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Ratings &amp; reviews to track performance and client satisfaction.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6455664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© 2026 Vakil Case   ·   Demo.US.Vakilcase.com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</a:rPr>
              <a:t>SCREEN 5 · INVOICES &amp; BILLING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Billing that gets you paid — in USD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Create, send, and track invoices with partial payments and overdue alerts.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642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377440"/>
                <a:gridCol w="1828800"/>
                <a:gridCol w="1737360"/>
                <a:gridCol w="164592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</a:rPr>
                        <a:t>Invoice #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</a:rPr>
                        <a:t>Client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</a:rPr>
                        <a:t>Amount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</a:rPr>
                        <a:t>Paid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</a:rPr>
                        <a:t>Status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</a:rPr>
                        <a:t>Due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INV-1042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Emily Carter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$1,250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$1,250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Paid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INV-1043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Sophia Bennett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$2,400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$1,200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Partial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Sep 20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INV-1044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Meridian Industries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$5,500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$0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Overdue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Sep 01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425196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Native USD billing — all invoices and trust ledgers in US Dollars.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Payment tracking — partial payments and outstanding balances at a glance.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Status automation — draft → sent → partial → paid, with overdue alerts.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6455664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© 2026 Vakil Case   ·   Demo.US.Vakilcase.com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</a:rPr>
              <a:t>SCREEN 6 · DOCUMENTS &amp; E-SIGNATURE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Every file, organized and signed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Secure document storage with legally-binding e-signature requests.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48640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286000"/>
            <a:ext cx="457200" cy="457200"/>
          </a:xfrm>
          <a:prstGeom prst="roundRect">
            <a:avLst/>
          </a:prstGeom>
          <a:solidFill>
            <a:srgbClr val="4F46E5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2286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Document Library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8803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Upload, categorize, and link documents to cases and clients with access-level controls.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057400"/>
            <a:ext cx="548640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2286000"/>
            <a:ext cx="457200" cy="457200"/>
          </a:xfrm>
          <a:prstGeom prst="roundRect">
            <a:avLst/>
          </a:prstGeom>
          <a:solidFill>
            <a:srgbClr val="4F46E5"/>
          </a:solidFill>
          <a:ln/>
        </p:spPr>
      </p:sp>
      <p:sp>
        <p:nvSpPr>
          <p:cNvPr id="12" name="Text 10"/>
          <p:cNvSpPr/>
          <p:nvPr/>
        </p:nvSpPr>
        <p:spPr>
          <a:xfrm>
            <a:off x="6995160" y="2286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E-Signature Requests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0" y="28803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Send engagement letters and contracts for signature; track pending, viewed, signed, and declined.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548640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023360"/>
            <a:ext cx="457200" cy="457200"/>
          </a:xfrm>
          <a:prstGeom prst="roundRect">
            <a:avLst/>
          </a:prstGeom>
          <a:solidFill>
            <a:srgbClr val="4F46E5"/>
          </a:solidFill>
          <a:ln/>
        </p:spPr>
      </p:sp>
      <p:sp>
        <p:nvSpPr>
          <p:cNvPr id="16" name="Text 14"/>
          <p:cNvSpPr/>
          <p:nvPr/>
        </p:nvSpPr>
        <p:spPr>
          <a:xfrm>
            <a:off x="1325880" y="4023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Document Templates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1520" y="461772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Firm-wide templates for letters, court filings, contracts, and notices — jurisdiction-aware.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3794760"/>
            <a:ext cx="548640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4023360"/>
            <a:ext cx="457200" cy="457200"/>
          </a:xfrm>
          <a:prstGeom prst="roundRect">
            <a:avLst/>
          </a:prstGeom>
          <a:solidFill>
            <a:srgbClr val="4F46E5"/>
          </a:solidFill>
          <a:ln/>
        </p:spPr>
      </p:sp>
      <p:sp>
        <p:nvSpPr>
          <p:cNvPr id="20" name="Text 18"/>
          <p:cNvSpPr/>
          <p:nvPr/>
        </p:nvSpPr>
        <p:spPr>
          <a:xfrm>
            <a:off x="6995160" y="4023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Confidentiality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0" y="461772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Mark documents confidential with lawyer-only or admin-only access levels.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455664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© 2026 Vakil Case   ·   Demo.US.Vakilcase.com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</a:rPr>
              <a:t>SCREEN 7 · OPERATIONS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Trust accounting, time, tasks &amp; intake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The operational backbone that keeps a firm compliant and on schedule.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Trust Accounting (IOLTA) — separate trust and operating accounts with full deposit/withdrawal ledgers and running balances.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Time Tracking — log billable hours per case with rates and billing flags; never lose trackable time again.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Tasks — assign tasks to team members with due dates and priority, synced to cases.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Intake Forms — publish public intake forms that capture leads and convert them to clients and cases.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Email Log — track inbound and outbound correspondence linked to cases and clients.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Court Updates — log hearing outcomes, judges, and next dates to keep every matter current.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6455664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© 2026 Vakil Case   ·   Demo.US.Vakilcase.com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</a:rPr>
              <a:t>SCREEN 8 · BUILT-IN 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An AI assistant inside the platform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Research, draft, and summarize — without ever leaving Vakil Case.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48640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240280"/>
            <a:ext cx="457200" cy="457200"/>
          </a:xfrm>
          <a:prstGeom prst="roundRect">
            <a:avLst/>
          </a:prstGeom>
          <a:solidFill>
            <a:srgbClr val="4F46E5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2240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Legal Research Assistant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Ask a legal question and get a sourced answer right inside the dashboard.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057400"/>
            <a:ext cx="548640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2240280"/>
            <a:ext cx="457200" cy="457200"/>
          </a:xfrm>
          <a:prstGeom prst="roundRect">
            <a:avLst/>
          </a:prstGeom>
          <a:solidFill>
            <a:srgbClr val="4F46E5"/>
          </a:solidFill>
          <a:ln/>
        </p:spPr>
      </p:sp>
      <p:sp>
        <p:nvSpPr>
          <p:cNvPr id="12" name="Text 10"/>
          <p:cNvSpPr/>
          <p:nvPr/>
        </p:nvSpPr>
        <p:spPr>
          <a:xfrm>
            <a:off x="6995160" y="2240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Draft Documents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0" y="274320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Generate first drafts of letters, notices, and client updates from templates.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548640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794760"/>
            <a:ext cx="457200" cy="457200"/>
          </a:xfrm>
          <a:prstGeom prst="roundRect">
            <a:avLst/>
          </a:prstGeom>
          <a:solidFill>
            <a:srgbClr val="4F46E5"/>
          </a:solidFill>
          <a:ln/>
        </p:spPr>
      </p:sp>
      <p:sp>
        <p:nvSpPr>
          <p:cNvPr id="16" name="Text 14"/>
          <p:cNvSpPr/>
          <p:nvPr/>
        </p:nvSpPr>
        <p:spPr>
          <a:xfrm>
            <a:off x="1325880" y="3794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Summarize Case Files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1520" y="429768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Condense case history, notes, and hearing logs into a brief summary.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3611880"/>
            <a:ext cx="548640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3794760"/>
            <a:ext cx="457200" cy="457200"/>
          </a:xfrm>
          <a:prstGeom prst="roundRect">
            <a:avLst/>
          </a:prstGeom>
          <a:solidFill>
            <a:srgbClr val="4F46E5"/>
          </a:solidFill>
          <a:ln/>
        </p:spPr>
      </p:sp>
      <p:sp>
        <p:nvSpPr>
          <p:cNvPr id="20" name="Text 18"/>
          <p:cNvSpPr/>
          <p:nvPr/>
        </p:nvSpPr>
        <p:spPr>
          <a:xfrm>
            <a:off x="6995160" y="3794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Triage Intake Submissions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0" y="429768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AI reviews new intake submissions and flags the matters worth pursuing.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394960"/>
            <a:ext cx="11064240" cy="10058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5321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30A3"/>
                </a:solidFill>
              </a:rPr>
              <a:t>Built in — no separate AI accounts or websites to visit. External AI models (e.g., ChatGPT, Claude) can also be connected through the backend, so lawyers never leave your platform.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6455664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© 2026 Vakil Case   ·   Demo.US.Vakilcase.com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</a:rPr>
              <a:t>SECURITY &amp; ACCESS CONTROL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Bank-grade security, by design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Your firm's data is locked down and accessible only to those you authorise.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10972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Row-level security — every record protected; only authorised admin accounts can read, create, edit, or delete.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Admin-only writes — no unauthorised edits are ever possible.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USD-only billing — currency consistency built in across fees, trust, and subscriptions.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Private access — login required; the platform is locked to the account owner.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Confidentiality controls — lawyer-only and admin-only document access levels.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5029200"/>
            <a:ext cx="11064240" cy="11887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120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F46"/>
                </a:solidFill>
              </a:rPr>
              <a:t>Your data stays yours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5486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47857"/>
                </a:solidFill>
              </a:rPr>
              <a:t>Confidential client information, case strategy, and financials — protected at every layer.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6455664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© 2026 Vakil Case   ·   Demo.US.Vakilcase.com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</a:rPr>
              <a:t>WHY VAKIL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Built for US law firms, ready to scale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Purpose-built for the way American attorneys actually work.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356616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240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</a:rPr>
              <a:t>USD-native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Every amount — fees, trust, retainers, subscriptions — in US Dollars.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2057400"/>
            <a:ext cx="356616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2240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</a:rPr>
              <a:t>Multi-state ready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80560" y="26517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US-first with templates tuned for state bars and US courts.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2057400"/>
            <a:ext cx="356616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2240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</a:rPr>
              <a:t>All-in-one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0" y="26517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Replace 6+ disconnected tools with one secure platform.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794760"/>
            <a:ext cx="356616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977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</a:rPr>
              <a:t>Easy to adopt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1520" y="43891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Clean, intuitive interface your team learns in minutes.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97680" y="3794760"/>
            <a:ext cx="356616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3977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</a:rPr>
              <a:t>Firm-ready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480560" y="43891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From solo attorneys to multi-lawyer firms.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46720" y="3794760"/>
            <a:ext cx="356616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0" y="3977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</a:rPr>
              <a:t>Fast to deploy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9600" y="43891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Live in a day — no IT team required.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455664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© 2026 Vakil Case   ·   Demo.US.Vakilcase.com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</a:rPr>
              <a:t>PLANS &amp; PRICING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Simple plans, in USD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Start free. Scale as your firm grows.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26974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28600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FREE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$0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forever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794760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Up to 10 cases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Basic CRM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1 user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83280" y="2057400"/>
            <a:ext cx="26974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228600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STARTER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26974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$29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383280" y="32461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/month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66160" y="3794760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Up to 100 cases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Invoicing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Documents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2057400"/>
            <a:ext cx="2697480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F46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2057400"/>
            <a:ext cx="2697480" cy="457200"/>
          </a:xfrm>
          <a:prstGeom prst="roundRect">
            <a:avLst/>
          </a:prstGeom>
          <a:solidFill>
            <a:srgbClr val="4F46E5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21488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PROFESSIONAL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0" y="26974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$59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217920" y="32461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/month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3794760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Unlimited cases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Trust accounting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E-signature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Time tracking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052560" y="2057400"/>
            <a:ext cx="26974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52560" y="228600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ENTERPRISE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052560" y="26974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Custom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9052560" y="32461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235440" y="3794760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Multi-lawyer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SSO + audit logs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Priority support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6455664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© 2026 Vakil Case   ·   Demo.US.Vakilcase.com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4F46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21808" y="749808"/>
            <a:ext cx="1517904" cy="1517904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/>
        </p:spPr>
      </p:sp>
      <p:pic>
        <p:nvPicPr>
          <p:cNvPr id="3" name="Image 0" descr="https://media.base44.com/images/public/6a95d675a12ae82453682890/0ae5015c5_generated_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0" y="91440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3774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C7D2FE"/>
                </a:solidFill>
              </a:rPr>
              <a:t>LET'S TALK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914400" y="283464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See Vakil Case in action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828800" y="393192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0E7FF"/>
                </a:solidFill>
              </a:rPr>
              <a:t>Book a live walkthrough and we'll tailor the demo to your practice area.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46634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D2FE"/>
                </a:solidFill>
              </a:rPr>
              <a:t>30-minute live demo  ·  Tailored to your practice area  ·  Free trial setup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718304" y="5303520"/>
            <a:ext cx="2743200" cy="73152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4718304" y="53035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46E5"/>
                </a:solidFill>
              </a:rPr>
              <a:t>Book a demo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640" y="6455664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© 2026 Vakil Case   ·   Demo.US.Vakilcase.com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Vakil Case - US Sales Presentation</dc:title>
  <dc:subject>Practice management platform for US law firms</dc:subject>
  <dc:creator>Vakil Case</dc:creator>
  <cp:lastModifiedBy>Vakil Case</cp:lastModifiedBy>
  <cp:revision>1</cp:revision>
  <dcterms:created xsi:type="dcterms:W3CDTF">2026-09-03T17:59:39Z</dcterms:created>
  <dcterms:modified xsi:type="dcterms:W3CDTF">2026-09-03T17:59:39Z</dcterms:modified>
</cp:coreProperties>
</file>